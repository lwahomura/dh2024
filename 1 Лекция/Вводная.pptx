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media/image1.gif" ContentType="image/gif"/>
  <Override PartName="/ppt/media/image4.png" ContentType="image/png"/>
  <Override PartName="/ppt/media/image2.png" ContentType="image/png"/>
  <Override PartName="/ppt/media/image3.jpeg" ContentType="image/jpeg"/>
  <Override PartName="/ppt/media/image6.png" ContentType="image/png"/>
  <Override PartName="/ppt/media/image5.png" ContentType="image/png"/>
  <Override PartName="/ppt/media/image7.png" ContentType="image/png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d7d31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ed7d31"/>
              </a:solidFill>
              <a:ln w="0">
                <a:noFill/>
              </a:ln>
            </c:spPr>
          </c:dPt>
          <c:dLbls>
            <c:numFmt formatCode="General" sourceLinked="0"/>
            <c:dLbl>
              <c:idx val="1"/>
              <c:numFmt formatCode="General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404040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00" spc="-1" strike="noStrike">
                    <a:solidFill>
                      <a:srgbClr val="40404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Курс будет полезен</c:v>
                </c:pt>
                <c:pt idx="1">
                  <c:v>Курс будет интересен</c:v>
                </c:pt>
                <c:pt idx="2">
                  <c:v>Предмет интереснее альтернативных</c:v>
                </c:pt>
                <c:pt idx="3">
                  <c:v>Другие причины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6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gapWidth val="219"/>
        <c:overlap val="-27"/>
        <c:axId val="97716100"/>
        <c:axId val="82207197"/>
      </c:barChart>
      <c:catAx>
        <c:axId val="9771610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82207197"/>
        <c:crosses val="autoZero"/>
        <c:auto val="1"/>
        <c:lblAlgn val="ctr"/>
        <c:lblOffset val="100"/>
        <c:noMultiLvlLbl val="0"/>
      </c:catAx>
      <c:valAx>
        <c:axId val="82207197"/>
        <c:scaling>
          <c:orientation val="minMax"/>
        </c:scaling>
        <c:delete val="0"/>
        <c:axPos val="l"/>
        <c:majorGridlines>
          <c:spPr>
            <a:ln w="9360">
              <a:solidFill>
                <a:srgbClr val="4472c4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sz="1197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97716100"/>
        <c:crossesAt val="1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d7d31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ffc000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197" spc="-1" strike="noStrike">
                      <a:solidFill>
                        <a:srgbClr val="404040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eparator>
</c:separator>
            </c:dLbl>
            <c:dLbl>
              <c:idx val="1"/>
              <c:txPr>
                <a:bodyPr wrap="square"/>
                <a:lstStyle/>
                <a:p>
                  <a:pPr>
                    <a:defRPr b="0" sz="1197" spc="-1" strike="noStrike">
                      <a:solidFill>
                        <a:srgbClr val="404040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197" spc="-1" strike="noStrike">
                    <a:solidFill>
                      <a:srgbClr val="40404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eparator>
</c:separator>
            <c:showLeaderLines val="1"/>
          </c:dLbls>
          <c:cat>
            <c:strRef>
              <c:f>categories</c:f>
              <c:strCache>
                <c:ptCount val="2"/>
                <c:pt idx="0">
                  <c:v>Гуманитарный</c:v>
                </c:pt>
                <c:pt idx="1">
                  <c:v>Смешанный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0.667</c:v>
                </c:pt>
                <c:pt idx="1">
                  <c:v>0.333</c:v>
                </c:pt>
              </c:numCache>
            </c:numRef>
          </c:val>
        </c:ser>
        <c:firstSliceAng val="135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d7d31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ffc000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197" spc="-1" strike="noStrike">
                      <a:solidFill>
                        <a:srgbClr val="404040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eparator>
</c:separator>
            </c:dLbl>
            <c:dLbl>
              <c:idx val="1"/>
              <c:txPr>
                <a:bodyPr wrap="square"/>
                <a:lstStyle/>
                <a:p>
                  <a:pPr>
                    <a:defRPr b="0" sz="1197" spc="-1" strike="noStrike">
                      <a:solidFill>
                        <a:srgbClr val="404040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197" spc="-1" strike="noStrike">
                    <a:solidFill>
                      <a:srgbClr val="40404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eparator>
</c:separator>
            <c:showLeaderLines val="1"/>
          </c:dLbls>
          <c:cat>
            <c:strRef>
              <c:f>categories</c:f>
              <c:strCache>
                <c:ptCount val="2"/>
                <c:pt idx="0">
                  <c:v>Хорошо</c:v>
                </c:pt>
                <c:pt idx="1">
                  <c:v>Не очень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0.667</c:v>
                </c:pt>
                <c:pt idx="1">
                  <c:v>0.333</c:v>
                </c:pt>
              </c:numCache>
            </c:numRef>
          </c:val>
        </c:ser>
        <c:firstSliceAng val="135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d7d31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ffc000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70ad47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197" spc="-1" strike="noStrike">
                      <a:solidFill>
                        <a:srgbClr val="404040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eparator>
</c:separator>
            </c:dLbl>
            <c:dLbl>
              <c:idx val="1"/>
              <c:txPr>
                <a:bodyPr wrap="square"/>
                <a:lstStyle/>
                <a:p>
                  <a:pPr>
                    <a:defRPr b="0" sz="1197" spc="-1" strike="noStrike">
                      <a:solidFill>
                        <a:srgbClr val="404040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eparator>
</c:separator>
            </c:dLbl>
            <c:dLbl>
              <c:idx val="2"/>
              <c:txPr>
                <a:bodyPr wrap="square"/>
                <a:lstStyle/>
                <a:p>
                  <a:pPr>
                    <a:defRPr b="0" sz="1197" spc="-1" strike="noStrike">
                      <a:solidFill>
                        <a:srgbClr val="404040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197" spc="-1" strike="noStrike">
                    <a:solidFill>
                      <a:srgbClr val="40404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eparator>
</c:separator>
            <c:showLeaderLines val="1"/>
          </c:dLbls>
          <c:cat>
            <c:strRef>
              <c:f>categories</c:f>
              <c:strCache>
                <c:ptCount val="3"/>
                <c:pt idx="0">
                  <c:v>R</c:v>
                </c:pt>
                <c:pt idx="1">
                  <c:v>С++</c:v>
                </c:pt>
                <c:pt idx="2">
                  <c:v>Нет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0.333</c:v>
                </c:pt>
                <c:pt idx="1">
                  <c:v>0.333</c:v>
                </c:pt>
                <c:pt idx="2">
                  <c:v>0.333</c:v>
                </c:pt>
              </c:numCache>
            </c:numRef>
          </c:val>
        </c:ser>
        <c:firstSliceAng val="135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d7d31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ed7d31"/>
              </a:solidFill>
              <a:ln w="0">
                <a:noFill/>
              </a:ln>
            </c:spPr>
          </c:dPt>
          <c:dLbls>
            <c:numFmt formatCode="General" sourceLinked="0"/>
            <c:dLbl>
              <c:idx val="1"/>
              <c:numFmt formatCode="General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404040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00" spc="-1" strike="noStrike">
                    <a:solidFill>
                      <a:srgbClr val="40404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ИТ</c:v>
                </c:pt>
                <c:pt idx="1">
                  <c:v>Свои проекты</c:v>
                </c:pt>
                <c:pt idx="2">
                  <c:v>Научная работа</c:v>
                </c:pt>
                <c:pt idx="3">
                  <c:v>Что-то еще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gapWidth val="219"/>
        <c:overlap val="-27"/>
        <c:axId val="94035245"/>
        <c:axId val="58617691"/>
      </c:barChart>
      <c:catAx>
        <c:axId val="9403524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8617691"/>
        <c:crosses val="autoZero"/>
        <c:auto val="1"/>
        <c:lblAlgn val="ctr"/>
        <c:lblOffset val="100"/>
        <c:noMultiLvlLbl val="0"/>
      </c:catAx>
      <c:valAx>
        <c:axId val="58617691"/>
        <c:scaling>
          <c:orientation val="minMax"/>
        </c:scaling>
        <c:delete val="0"/>
        <c:axPos val="l"/>
        <c:majorGridlines>
          <c:spPr>
            <a:ln w="9360">
              <a:solidFill>
                <a:srgbClr val="4472c4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sz="1197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94035245"/>
        <c:crossesAt val="1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19C342-D033-4301-A8A6-BF1FA38457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8AFAF1-73D9-48A7-A89C-085589FFED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3E7098-9840-4AF3-B507-470A0D907A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C93451-8353-448A-AC89-2A7CF797A3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B58618-8920-4209-9900-B5FD2E1D3C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2304BB-F9F5-4D4D-ADBC-3F732227F9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192DBC-256F-4376-A852-FEAAC1B93D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48DD22-66EA-4F65-831E-A1F1E9AC59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A02870-D3EF-4BB5-94BC-5DF83AF3BB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DC9C90-D902-496D-ABD9-F203770766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BA3A8D-7978-439E-9EF6-71A1FB1A45F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7D25E9-C8F2-436B-85BE-1EE3C77B6E6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C676322-AC6D-4351-85D0-48A67B9227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DB645F0-FB2C-47E6-9912-EC997EE2BD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BB9BF73-8A79-4329-B7C3-6AECED9085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AD1030F-3E58-4154-9F96-C15CBA07CA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930F8D4-764E-49C7-B51A-67F997865D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FA92823-6393-48D3-8564-443045B0CE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F9013A-12E3-49CE-8636-B640671C8E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FB0B6FA-F03A-4503-8EED-B1973E4169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F99D2E-F3E3-4DEF-B46A-B48FB5E908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B8D8EA4-5E5B-419F-9E1F-9E1602473B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4403333-0859-40EA-95DE-E9B5D44525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CEC038-952B-44DB-94E3-2BB46BC86D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BBDB5BC-1A61-4BAE-80C3-AA9181D502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2973E77-2ADC-435C-9A9F-29EB43074A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EE36DC1-4E11-4E55-8B7E-C66E1A8AEA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8DBAAB0-FE85-448C-BF95-3DBAD603B5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D445A0B-F840-47B5-9420-30EAAD65B5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554E3D4-E8BB-4775-8FC7-66645180D0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E5867BF-59DE-4BE2-A7B4-5062C21E3F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A981BF8-08B1-4261-8DF1-D14708E809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45E6B34-04CA-4DA0-B574-21CB8FB006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FB7B3D1-4AA1-4CB6-B659-3605046DF8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7BB798F-0974-45F9-9C2F-701AD585BF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77ACAB-DA29-454D-9E6F-51DB3244BBD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B43D362-435D-4F72-8392-586F724B7E6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810912-EA16-4F71-9E9B-30E18263F08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4D875D1-7AAA-46B5-A0C7-C5BBD3D74BC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1.gif"/><Relationship Id="rId3" Type="http://schemas.openxmlformats.org/officeDocument/2006/relationships/image" Target="../media/image1.gif"/><Relationship Id="rId4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 на языке </a:t>
            </a:r>
            <a:r>
              <a:rPr b="0" lang="en-US" sz="6000" spc="-1" strike="noStrike">
                <a:solidFill>
                  <a:srgbClr val="ff0000"/>
                </a:solidFill>
                <a:latin typeface="Comic Sans MS"/>
              </a:rPr>
              <a:t>P</a:t>
            </a:r>
            <a:r>
              <a:rPr b="0" lang="en-US" sz="6000" spc="-1" strike="noStrike">
                <a:solidFill>
                  <a:schemeClr val="accent6"/>
                </a:solidFill>
                <a:latin typeface="Comic Sans MS"/>
              </a:rPr>
              <a:t>y</a:t>
            </a:r>
            <a:r>
              <a:rPr b="0" lang="en-US" sz="6000" spc="-1" strike="noStrike">
                <a:solidFill>
                  <a:srgbClr val="00b0f0"/>
                </a:solidFill>
                <a:latin typeface="Comic Sans MS"/>
              </a:rPr>
              <a:t>t</a:t>
            </a:r>
            <a:r>
              <a:rPr b="0" lang="en-US" sz="6000" spc="-1" strike="noStrike">
                <a:solidFill>
                  <a:schemeClr val="accent1"/>
                </a:solidFill>
                <a:latin typeface="Comic Sans MS"/>
              </a:rPr>
              <a:t>h</a:t>
            </a:r>
            <a:r>
              <a:rPr b="0" lang="en-US" sz="6000" spc="-1" strike="noStrike">
                <a:solidFill>
                  <a:srgbClr val="7030a0"/>
                </a:solidFill>
                <a:latin typeface="Comic Sans MS"/>
              </a:rPr>
              <a:t>o</a:t>
            </a:r>
            <a:r>
              <a:rPr b="0" lang="en-US" sz="6000" spc="-1" strike="noStrike">
                <a:solidFill>
                  <a:srgbClr val="ffc000"/>
                </a:solidFill>
                <a:latin typeface="Comic Sans MS"/>
              </a:rPr>
              <a:t>n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(2-й курс, 1, 2 модуль)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Picture 2" descr="✨ Sparkles - Royalty-Free GIF - Animated Sticker - Free PNG - Animated Icon"/>
          <p:cNvPicPr/>
          <p:nvPr/>
        </p:nvPicPr>
        <p:blipFill>
          <a:blip r:embed="rId1"/>
          <a:stretch/>
        </p:blipFill>
        <p:spPr>
          <a:xfrm>
            <a:off x="1523880" y="3147840"/>
            <a:ext cx="1613160" cy="161316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4" descr="✨ Sparkles - Royalty-Free GIF - Animated Sticker - Free PNG - Animated Icon"/>
          <p:cNvPicPr/>
          <p:nvPr/>
        </p:nvPicPr>
        <p:blipFill>
          <a:blip r:embed="rId2"/>
          <a:stretch/>
        </p:blipFill>
        <p:spPr>
          <a:xfrm>
            <a:off x="9730080" y="13680"/>
            <a:ext cx="2216880" cy="221688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6" descr="✨ Sparkles - Royalty-Free GIF - Animated Sticker - Free PNG - Animated Icon"/>
          <p:cNvPicPr/>
          <p:nvPr/>
        </p:nvPicPr>
        <p:blipFill>
          <a:blip r:embed="rId3"/>
          <a:stretch/>
        </p:blipFill>
        <p:spPr>
          <a:xfrm>
            <a:off x="8074440" y="4532760"/>
            <a:ext cx="1449720" cy="144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себе. Образование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Бакалавриат: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Санкт-Петербургский государственный электротехнический университет «ЛЭТИ» им. В.И.Ульянова (Ленина)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Информационные системы и технологии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Анализ авторства текста на основе частотных характеристик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Picture 6" descr=""/>
          <p:cNvPicPr/>
          <p:nvPr/>
        </p:nvPicPr>
        <p:blipFill>
          <a:blip r:embed="rId1"/>
          <a:stretch/>
        </p:blipFill>
        <p:spPr>
          <a:xfrm>
            <a:off x="10567440" y="5233320"/>
            <a:ext cx="1623960" cy="162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себе. Образование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Магистратура: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Национальный исследовательский университет «Высшая школа экономики»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Компьютерная лингвистика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Предиктивный ввод текста для агглютинативных и полисинтетических языков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Picture 2" descr="Высшая школа экономики — Википедия"/>
          <p:cNvPicPr/>
          <p:nvPr/>
        </p:nvPicPr>
        <p:blipFill>
          <a:blip r:embed="rId1"/>
          <a:stretch/>
        </p:blipFill>
        <p:spPr>
          <a:xfrm>
            <a:off x="10567440" y="5244120"/>
            <a:ext cx="1623960" cy="1613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себе. Образование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Аспирантура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Национальный исследовательский университет «Высшая школа экономики»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Прикладная и математическая лингвистика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Picture 2" descr="Высшая школа экономики — Википедия"/>
          <p:cNvPicPr/>
          <p:nvPr/>
        </p:nvPicPr>
        <p:blipFill>
          <a:blip r:embed="rId1"/>
          <a:stretch/>
        </p:blipFill>
        <p:spPr>
          <a:xfrm>
            <a:off x="10567440" y="5244120"/>
            <a:ext cx="1623960" cy="1613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себе. Работа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ООО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НеоБИТ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Разработчик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Python, Go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Сбор и анализ данных из открытых источников (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OSINT)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Picture 2" descr="Главная | НеоБИТ"/>
          <p:cNvPicPr/>
          <p:nvPr/>
        </p:nvPicPr>
        <p:blipFill>
          <a:blip r:embed="rId1"/>
          <a:stretch/>
        </p:blipFill>
        <p:spPr>
          <a:xfrm>
            <a:off x="11009880" y="5411160"/>
            <a:ext cx="687600" cy="124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себе. Работа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ООО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МТС Диджитал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Ведущий разработчик + Тимлид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Go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Автоматизация технических и бизнес-процессов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Анонимизация данных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Аутентификация и авторизация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Picture 2" descr=""/>
          <p:cNvPicPr/>
          <p:nvPr/>
        </p:nvPicPr>
        <p:blipFill>
          <a:blip r:embed="rId1"/>
          <a:stretch/>
        </p:blipFill>
        <p:spPr>
          <a:xfrm>
            <a:off x="10384560" y="5966640"/>
            <a:ext cx="1691280" cy="41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себе. Работа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ООО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Айкон Софт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Руководитель направления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Go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Автоматизация технических и бизнес-процессов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Цифровизация ландшафта компании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10260000" y="4953240"/>
            <a:ext cx="1904400" cy="190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вас. Почему выбрали курс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7" name="Объект 12"/>
          <p:cNvGraphicFramePr/>
          <p:nvPr/>
        </p:nvGraphicFramePr>
        <p:xfrm>
          <a:off x="838080" y="1825560"/>
          <a:ext cx="10514880" cy="435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  <a:ea typeface="Microsoft YaHei"/>
              </a:rPr>
              <a:t>О вас. Бэкграунд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9" name="Объект 3"/>
          <p:cNvGraphicFramePr/>
          <p:nvPr/>
        </p:nvGraphicFramePr>
        <p:xfrm>
          <a:off x="-3240" y="1949040"/>
          <a:ext cx="10514880" cy="435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  <a:ea typeface="Microsoft YaHei"/>
              </a:rPr>
              <a:t>О вас. Знание питона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1" name="Объект 8"/>
          <p:cNvGraphicFramePr/>
          <p:nvPr/>
        </p:nvGraphicFramePr>
        <p:xfrm>
          <a:off x="104760" y="1949040"/>
          <a:ext cx="10514880" cy="435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  <a:ea typeface="Microsoft YaHei"/>
              </a:rPr>
              <a:t>О вас. Знание других языков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3" name="Объект 7"/>
          <p:cNvGraphicFramePr/>
          <p:nvPr/>
        </p:nvGraphicFramePr>
        <p:xfrm>
          <a:off x="180000" y="1980000"/>
          <a:ext cx="10514880" cy="435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вас. Планы на будущее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5" name="Объект 4"/>
          <p:cNvGraphicFramePr/>
          <p:nvPr/>
        </p:nvGraphicFramePr>
        <p:xfrm>
          <a:off x="838440" y="1825560"/>
          <a:ext cx="10514880" cy="435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курсе. Планы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numCol="2" spcCol="0"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Типология ЯП, Как Python работает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ООП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QoL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improvements, Ч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астые ошибки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Визуализация данных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Параллельность, асинхронность, Очереди задач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lain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Алгоритмы и структуры, Паттерны (?)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lain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ML (?)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lain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 работе: Git, Контейнеризация, Аналитика (?)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курсе. Оценивание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Формула: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Домашки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ООП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Визуализация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Проект – демонстрация навыков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Экзамен – защита проекта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курсе. Пары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 в неделю; перерыв 23.10 и 30.10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Все записи и материалы будут скидываться после занятий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Вопросы на паре можно задавать по мере возникновения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Вопросы в остальное время лучше писать в общий чат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 курсе. Еще что-то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Можно сразу показать проект и не париться следующие 2 модуля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Домашки можно и не сдавать, они нужны как подготовка для проекта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Темы проекта обсудим с каждым лично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Лучше спросить, чем не спросить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Спасибо за внимание!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4784400" y="2564280"/>
            <a:ext cx="2628720" cy="173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</TotalTime>
  <Application>LibreOffice/7.6.0.3$Windows_X86_64 LibreOffice_project/69edd8b8ebc41d00b4de3915dc82f8f0fc3b6265</Application>
  <AppVersion>15.0000</AppVersion>
  <Words>303</Words>
  <Paragraphs>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2021-11-09T17:23:25Z</dcterms:created>
  <dc:creator>Microsoft Office User</dc:creator>
  <dc:description/>
  <dc:language>ru-RU</dc:language>
  <cp:lastModifiedBy/>
  <dcterms:modified xsi:type="dcterms:W3CDTF">2025-10-02T18:41:10Z</dcterms:modified>
  <cp:revision>9</cp:revision>
  <dc:subject/>
  <dc:title>Программирование на языке Python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17</vt:i4>
  </property>
</Properties>
</file>